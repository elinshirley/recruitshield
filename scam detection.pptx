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pen Sauce Medium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Telegraf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925493"/>
            <a:ext cx="18288000" cy="4723014"/>
            <a:chOff x="0" y="0"/>
            <a:chExt cx="2704664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4664" cy="698500"/>
            </a:xfrm>
            <a:custGeom>
              <a:avLst/>
              <a:gdLst/>
              <a:ahLst/>
              <a:cxnLst/>
              <a:rect l="l" t="t" r="r" b="b"/>
              <a:pathLst>
                <a:path w="2704664" h="698500">
                  <a:moveTo>
                    <a:pt x="2704664" y="349250"/>
                  </a:moveTo>
                  <a:lnTo>
                    <a:pt x="250146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501464" y="0"/>
                  </a:lnTo>
                  <a:lnTo>
                    <a:pt x="2704664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4300" y="-47625"/>
              <a:ext cx="2476064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2407747" y="6850553"/>
            <a:ext cx="6872895" cy="687289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5474700" y="7315985"/>
            <a:ext cx="7373955" cy="2665614"/>
            <a:chOff x="0" y="0"/>
            <a:chExt cx="1932278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2278" cy="698500"/>
            </a:xfrm>
            <a:custGeom>
              <a:avLst/>
              <a:gdLst/>
              <a:ahLst/>
              <a:cxnLst/>
              <a:rect l="l" t="t" r="r" b="b"/>
              <a:pathLst>
                <a:path w="1932278" h="698500">
                  <a:moveTo>
                    <a:pt x="1932278" y="349250"/>
                  </a:moveTo>
                  <a:lnTo>
                    <a:pt x="172907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29078" y="0"/>
                  </a:lnTo>
                  <a:lnTo>
                    <a:pt x="1932278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000D8">
                    <a:alpha val="100000"/>
                  </a:srgbClr>
                </a:gs>
                <a:gs pos="50000">
                  <a:srgbClr val="020020">
                    <a:alpha val="100000"/>
                  </a:srgbClr>
                </a:gs>
                <a:gs pos="100000">
                  <a:srgbClr val="020020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1703678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3822853" y="-3436447"/>
            <a:ext cx="6872895" cy="687289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45685" y="6068607"/>
            <a:ext cx="6280264" cy="1210143"/>
            <a:chOff x="0" y="0"/>
            <a:chExt cx="1535712" cy="203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5712" cy="203200"/>
            </a:xfrm>
            <a:custGeom>
              <a:avLst/>
              <a:gdLst/>
              <a:ahLst/>
              <a:cxnLst/>
              <a:rect l="l" t="t" r="r" b="b"/>
              <a:pathLst>
                <a:path w="1535712" h="203200">
                  <a:moveTo>
                    <a:pt x="0" y="0"/>
                  </a:moveTo>
                  <a:lnTo>
                    <a:pt x="1535712" y="0"/>
                  </a:lnTo>
                  <a:lnTo>
                    <a:pt x="1535712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22213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35712" cy="250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266646" y="6175791"/>
            <a:ext cx="5745710" cy="1059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Team Name : Recruit shield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OMNIKON –National </a:t>
            </a:r>
            <a:r>
              <a:rPr lang="en-US" sz="2000" b="1" dirty="0" err="1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Hackthon</a:t>
            </a:r>
            <a:endParaRPr lang="en-US" sz="20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531667" y="6793403"/>
            <a:ext cx="3727633" cy="2464897"/>
          </a:xfrm>
          <a:custGeom>
            <a:avLst/>
            <a:gdLst/>
            <a:ahLst/>
            <a:cxnLst/>
            <a:rect l="l" t="t" r="r" b="b"/>
            <a:pathLst>
              <a:path w="3727633" h="2464897">
                <a:moveTo>
                  <a:pt x="0" y="0"/>
                </a:moveTo>
                <a:lnTo>
                  <a:pt x="3727633" y="0"/>
                </a:lnTo>
                <a:lnTo>
                  <a:pt x="3727633" y="2464897"/>
                </a:lnTo>
                <a:lnTo>
                  <a:pt x="0" y="2464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 flipV="1">
            <a:off x="-7374" y="35713"/>
            <a:ext cx="3727633" cy="2464897"/>
          </a:xfrm>
          <a:custGeom>
            <a:avLst/>
            <a:gdLst/>
            <a:ahLst/>
            <a:cxnLst/>
            <a:rect l="l" t="t" r="r" b="b"/>
            <a:pathLst>
              <a:path w="3727633" h="2464897">
                <a:moveTo>
                  <a:pt x="3727633" y="2464897"/>
                </a:moveTo>
                <a:lnTo>
                  <a:pt x="0" y="2464897"/>
                </a:lnTo>
                <a:lnTo>
                  <a:pt x="0" y="0"/>
                </a:lnTo>
                <a:lnTo>
                  <a:pt x="3727633" y="0"/>
                </a:lnTo>
                <a:lnTo>
                  <a:pt x="3727633" y="246489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AutoShape 20"/>
          <p:cNvSpPr/>
          <p:nvPr/>
        </p:nvSpPr>
        <p:spPr>
          <a:xfrm flipH="1" flipV="1">
            <a:off x="6266646" y="6094861"/>
            <a:ext cx="0" cy="1166300"/>
          </a:xfrm>
          <a:prstGeom prst="line">
            <a:avLst/>
          </a:prstGeom>
          <a:ln w="76200" cap="flat">
            <a:solidFill>
              <a:srgbClr val="FF01D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12268199" y="6094860"/>
            <a:ext cx="1" cy="1183889"/>
          </a:xfrm>
          <a:prstGeom prst="line">
            <a:avLst/>
          </a:prstGeom>
          <a:ln w="76200" cap="flat">
            <a:solidFill>
              <a:srgbClr val="FF01D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8300865" y="1052924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2822777"/>
            <a:ext cx="16230600" cy="23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23"/>
              </a:lnSpc>
              <a:spcBef>
                <a:spcPct val="0"/>
              </a:spcBef>
            </a:pPr>
            <a:endParaRPr lang="en-US" sz="3200" b="1" spc="-1266" dirty="0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57008" y="981075"/>
            <a:ext cx="2050026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45685" y="7665661"/>
            <a:ext cx="6091075" cy="1903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RecruitShield</a:t>
            </a: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helps job seekers identify suspicious recruitment messages and verify recruiter credibility using explainable risk analysis, identity verification, cross-platform detection, and a tamper-evident scam registry</a:t>
            </a:r>
            <a:r>
              <a:rPr lang="en-US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A7700A-D44E-221C-F23E-F2A86BB381E4}"/>
              </a:ext>
            </a:extLst>
          </p:cNvPr>
          <p:cNvSpPr txBox="1"/>
          <p:nvPr/>
        </p:nvSpPr>
        <p:spPr>
          <a:xfrm>
            <a:off x="1230054" y="2069272"/>
            <a:ext cx="151637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RecruitShield</a:t>
            </a:r>
            <a:r>
              <a:rPr lang="en-IN" sz="7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 Explainable Recruitment Scam Detection &amp; Trust Verification System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0590E1-07B9-128D-1389-BD6C31A22106}"/>
              </a:ext>
            </a:extLst>
          </p:cNvPr>
          <p:cNvSpPr txBox="1"/>
          <p:nvPr/>
        </p:nvSpPr>
        <p:spPr>
          <a:xfrm>
            <a:off x="1504359" y="5456792"/>
            <a:ext cx="120273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Detect • Verify • Explain • Protect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07747" y="6850553"/>
            <a:ext cx="6872895" cy="68728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800" y="4234421"/>
            <a:ext cx="8458200" cy="5557279"/>
            <a:chOff x="0" y="0"/>
            <a:chExt cx="1531846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1846" cy="698500"/>
            </a:xfrm>
            <a:custGeom>
              <a:avLst/>
              <a:gdLst/>
              <a:ahLst/>
              <a:cxnLst/>
              <a:rect l="l" t="t" r="r" b="b"/>
              <a:pathLst>
                <a:path w="1531846" h="698500">
                  <a:moveTo>
                    <a:pt x="1531846" y="349250"/>
                  </a:moveTo>
                  <a:lnTo>
                    <a:pt x="13286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28646" y="0"/>
                  </a:lnTo>
                  <a:lnTo>
                    <a:pt x="1531846" y="349250"/>
                  </a:lnTo>
                  <a:close/>
                </a:path>
              </a:pathLst>
            </a:custGeom>
            <a:solidFill>
              <a:srgbClr val="02002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1303246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52924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281279" y="7818907"/>
            <a:ext cx="6222760" cy="2171700"/>
            <a:chOff x="0" y="0"/>
            <a:chExt cx="1638916" cy="5719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8916" cy="571970"/>
            </a:xfrm>
            <a:custGeom>
              <a:avLst/>
              <a:gdLst/>
              <a:ahLst/>
              <a:cxnLst/>
              <a:rect l="l" t="t" r="r" b="b"/>
              <a:pathLst>
                <a:path w="1638916" h="571970">
                  <a:moveTo>
                    <a:pt x="0" y="0"/>
                  </a:moveTo>
                  <a:lnTo>
                    <a:pt x="1638916" y="0"/>
                  </a:lnTo>
                  <a:lnTo>
                    <a:pt x="1638916" y="571970"/>
                  </a:lnTo>
                  <a:lnTo>
                    <a:pt x="0" y="571970"/>
                  </a:lnTo>
                  <a:close/>
                </a:path>
              </a:pathLst>
            </a:custGeom>
            <a:gradFill rotWithShape="1">
              <a:gsLst>
                <a:gs pos="0">
                  <a:srgbClr val="1000D8">
                    <a:alpha val="100000"/>
                  </a:srgbClr>
                </a:gs>
                <a:gs pos="100000">
                  <a:srgbClr val="02002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38916" cy="619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817646" y="6052579"/>
            <a:ext cx="3127473" cy="2068041"/>
          </a:xfrm>
          <a:custGeom>
            <a:avLst/>
            <a:gdLst/>
            <a:ahLst/>
            <a:cxnLst/>
            <a:rect l="l" t="t" r="r" b="b"/>
            <a:pathLst>
              <a:path w="3127473" h="2068041">
                <a:moveTo>
                  <a:pt x="0" y="0"/>
                </a:moveTo>
                <a:lnTo>
                  <a:pt x="3127473" y="0"/>
                </a:lnTo>
                <a:lnTo>
                  <a:pt x="3127473" y="2068042"/>
                </a:lnTo>
                <a:lnTo>
                  <a:pt x="0" y="206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flipH="1">
            <a:off x="4700588" y="9258300"/>
            <a:ext cx="771525" cy="0"/>
          </a:xfrm>
          <a:prstGeom prst="line">
            <a:avLst/>
          </a:prstGeom>
          <a:ln w="76200" cap="flat">
            <a:solidFill>
              <a:srgbClr val="FF01D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028700" y="2260978"/>
            <a:ext cx="10007840" cy="118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2"/>
              </a:lnSpc>
            </a:pPr>
            <a:r>
              <a:rPr lang="en-US" sz="9092" b="1" spc="-700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Problem Statement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4842" y="981075"/>
            <a:ext cx="293071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02738" y="8073049"/>
            <a:ext cx="5333999" cy="1903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Missing: one trusted system that</a:t>
            </a:r>
          </a:p>
          <a:p>
            <a:pPr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verifies identity, detects scams,</a:t>
            </a:r>
          </a:p>
          <a:p>
            <a:pPr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and shares fraud intelligence</a:t>
            </a:r>
          </a:p>
          <a:p>
            <a:pPr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across platforms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2600" y="4676272"/>
            <a:ext cx="6410480" cy="459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1926" lvl="1"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Recruitment scams use fake company sites, HR profiles, and offer letters.</a:t>
            </a:r>
          </a:p>
          <a:p>
            <a:pPr marL="161926" lvl="1"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161926" lvl="1"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No standard way for candidates to check if recruiters or jobs are real.</a:t>
            </a:r>
          </a:p>
          <a:p>
            <a:pPr marL="161926" lvl="1"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161926" lvl="1"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Job seekers can’t easily confirm company identity, past fraud reports, or spot fake payment requests.</a:t>
            </a:r>
          </a:p>
          <a:p>
            <a:pPr marL="161926" lvl="1"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161926" lvl="1"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Current checks (manual reports, HR calls, WHOIS, filters) are slow and scattered.</a:t>
            </a:r>
          </a:p>
          <a:p>
            <a:pPr marL="161926" lvl="1"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161926" lvl="1"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Scammers switch between portals, email, WhatsApp, Telegram to keep scams alive.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D924C2-2FF7-FEDE-2E74-D510D9AF2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616" y="749308"/>
            <a:ext cx="6900093" cy="5289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29600" y="1052924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22853" y="6850553"/>
            <a:ext cx="6872895" cy="687289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48118" y="3200743"/>
            <a:ext cx="12031904" cy="6872894"/>
            <a:chOff x="0" y="0"/>
            <a:chExt cx="1503101" cy="776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3101" cy="776006"/>
            </a:xfrm>
            <a:custGeom>
              <a:avLst/>
              <a:gdLst/>
              <a:ahLst/>
              <a:cxnLst/>
              <a:rect l="l" t="t" r="r" b="b"/>
              <a:pathLst>
                <a:path w="1503101" h="776006">
                  <a:moveTo>
                    <a:pt x="1503101" y="388003"/>
                  </a:moveTo>
                  <a:lnTo>
                    <a:pt x="1299901" y="776006"/>
                  </a:lnTo>
                  <a:lnTo>
                    <a:pt x="203200" y="776006"/>
                  </a:lnTo>
                  <a:lnTo>
                    <a:pt x="0" y="388003"/>
                  </a:lnTo>
                  <a:lnTo>
                    <a:pt x="203200" y="0"/>
                  </a:lnTo>
                  <a:lnTo>
                    <a:pt x="1299901" y="0"/>
                  </a:lnTo>
                  <a:lnTo>
                    <a:pt x="1503101" y="388003"/>
                  </a:lnTo>
                  <a:close/>
                </a:path>
              </a:pathLst>
            </a:custGeom>
            <a:solidFill>
              <a:srgbClr val="02002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0" y="-47625"/>
              <a:ext cx="1274501" cy="823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12358688" y="9258300"/>
            <a:ext cx="771525" cy="0"/>
          </a:xfrm>
          <a:prstGeom prst="line">
            <a:avLst/>
          </a:prstGeom>
          <a:ln w="76200" cap="flat">
            <a:solidFill>
              <a:srgbClr val="FF01D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 rot="2700000">
            <a:off x="-2407747" y="-2427171"/>
            <a:ext cx="6872895" cy="687289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7441768"/>
            <a:ext cx="5657850" cy="1816532"/>
            <a:chOff x="0" y="0"/>
            <a:chExt cx="1490133" cy="4784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90133" cy="478428"/>
            </a:xfrm>
            <a:custGeom>
              <a:avLst/>
              <a:gdLst/>
              <a:ahLst/>
              <a:cxnLst/>
              <a:rect l="l" t="t" r="r" b="b"/>
              <a:pathLst>
                <a:path w="1490133" h="478428">
                  <a:moveTo>
                    <a:pt x="0" y="0"/>
                  </a:moveTo>
                  <a:lnTo>
                    <a:pt x="1490133" y="0"/>
                  </a:lnTo>
                  <a:lnTo>
                    <a:pt x="1490133" y="478428"/>
                  </a:lnTo>
                  <a:lnTo>
                    <a:pt x="0" y="478428"/>
                  </a:lnTo>
                  <a:close/>
                </a:path>
              </a:pathLst>
            </a:custGeom>
            <a:gradFill rotWithShape="1">
              <a:gsLst>
                <a:gs pos="0">
                  <a:srgbClr val="1000D8">
                    <a:alpha val="100000"/>
                  </a:srgbClr>
                </a:gs>
                <a:gs pos="100000">
                  <a:srgbClr val="02002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90133" cy="526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585742" y="981075"/>
            <a:ext cx="2237704" cy="68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50" dirty="0">
              <a:solidFill>
                <a:srgbClr val="FFFFFF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673653" y="1404471"/>
            <a:ext cx="10413886" cy="1626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20"/>
              </a:lnSpc>
            </a:pPr>
            <a:r>
              <a:rPr lang="en-US" sz="12520" b="1" spc="-964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Progress Made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1156" y="7734301"/>
            <a:ext cx="5064446" cy="133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From Concept to a Working Prototype Detecting Scams with Real-Time Intelligence</a:t>
            </a:r>
          </a:p>
          <a:p>
            <a:pPr>
              <a:lnSpc>
                <a:spcPts val="2100"/>
              </a:lnSpc>
            </a:pPr>
            <a:endParaRPr lang="en-US" sz="16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>
              <a:lnSpc>
                <a:spcPts val="21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Building a Safer and Trusted Recruitment Ecosystem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90D44E-8847-79A4-E62D-B9452E40B36A}"/>
              </a:ext>
            </a:extLst>
          </p:cNvPr>
          <p:cNvSpPr txBox="1"/>
          <p:nvPr/>
        </p:nvSpPr>
        <p:spPr>
          <a:xfrm>
            <a:off x="7891296" y="3455960"/>
            <a:ext cx="9145549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Converted the Round 1 concept into a functional prototype by developing the core backend using Python, Flask, and SQLite.</a:t>
            </a:r>
          </a:p>
          <a:p>
            <a:r>
              <a:rPr lang="en-IN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Designed and implemented the multi-layer recruitment scam detection architecture, combining content analysis, domain intelligence, identity verification, and scam registry checks.</a:t>
            </a:r>
          </a:p>
          <a:p>
            <a:r>
              <a:rPr lang="en-IN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Developed and tested the real-time risk analysis engine, including weighted Trust Score calculation and explainable red-flag detection.</a:t>
            </a:r>
          </a:p>
          <a:p>
            <a:r>
              <a:rPr lang="en-IN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Integrated multiple access channels, successfully connecting the detection system with a browser extension MVP and a working Telegram bot.</a:t>
            </a:r>
          </a:p>
          <a:p>
            <a:r>
              <a:rPr lang="en-IN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Built and validated the supporting security infrastructure, including SHA-256 hash-linked scam records, blockchain integrity verification, WHOIS/domain analysis, and recruiter-company identity matching.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F72D822-7E57-5BF5-EA8B-3491F2E95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00" y="476779"/>
            <a:ext cx="6943057" cy="6373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77131" y="1052924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6800" y="8177911"/>
            <a:ext cx="10134600" cy="4218177"/>
            <a:chOff x="0" y="0"/>
            <a:chExt cx="1678217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78217" cy="698500"/>
            </a:xfrm>
            <a:custGeom>
              <a:avLst/>
              <a:gdLst/>
              <a:ahLst/>
              <a:cxnLst/>
              <a:rect l="l" t="t" r="r" b="b"/>
              <a:pathLst>
                <a:path w="1678217" h="698500">
                  <a:moveTo>
                    <a:pt x="1678217" y="349250"/>
                  </a:moveTo>
                  <a:lnTo>
                    <a:pt x="147501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75017" y="0"/>
                  </a:lnTo>
                  <a:lnTo>
                    <a:pt x="1678217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4300" y="-47625"/>
              <a:ext cx="1449617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9144000" y="8177911"/>
            <a:ext cx="6872895" cy="687289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933274" y="981075"/>
            <a:ext cx="2237704" cy="687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50" dirty="0">
              <a:solidFill>
                <a:srgbClr val="FFFFFF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898784"/>
            <a:ext cx="11849100" cy="1168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5"/>
              </a:lnSpc>
            </a:pPr>
            <a:r>
              <a:rPr lang="en-US" sz="8955" b="1" spc="-689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Features implemented</a:t>
            </a:r>
          </a:p>
        </p:txBody>
      </p:sp>
      <p:grpSp>
        <p:nvGrpSpPr>
          <p:cNvPr id="39" name="Group 39"/>
          <p:cNvGrpSpPr/>
          <p:nvPr/>
        </p:nvGrpSpPr>
        <p:grpSpPr>
          <a:xfrm rot="-10800000">
            <a:off x="1033461" y="7461852"/>
            <a:ext cx="7086600" cy="2151264"/>
            <a:chOff x="0" y="0"/>
            <a:chExt cx="2300968" cy="698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00968" cy="698500"/>
            </a:xfrm>
            <a:custGeom>
              <a:avLst/>
              <a:gdLst/>
              <a:ahLst/>
              <a:cxnLst/>
              <a:rect l="l" t="t" r="r" b="b"/>
              <a:pathLst>
                <a:path w="2300968" h="698500">
                  <a:moveTo>
                    <a:pt x="2300968" y="349250"/>
                  </a:moveTo>
                  <a:lnTo>
                    <a:pt x="209776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097768" y="0"/>
                  </a:lnTo>
                  <a:lnTo>
                    <a:pt x="2300968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000D8">
                    <a:alpha val="100000"/>
                  </a:srgbClr>
                </a:gs>
                <a:gs pos="50000">
                  <a:srgbClr val="020020">
                    <a:alpha val="100000"/>
                  </a:srgbClr>
                </a:gs>
                <a:gs pos="100000">
                  <a:srgbClr val="020020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4300" y="-47625"/>
              <a:ext cx="2072368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600200" y="7890308"/>
            <a:ext cx="6201175" cy="1379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“</a:t>
            </a:r>
            <a:r>
              <a:rPr lang="en-US" sz="2800" b="1" dirty="0" err="1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Verify.Detect.Trust</a:t>
            </a: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– Before You Apply”.</a:t>
            </a:r>
          </a:p>
          <a:p>
            <a:pPr algn="l">
              <a:lnSpc>
                <a:spcPts val="2100"/>
              </a:lnSpc>
            </a:pPr>
            <a:endParaRPr lang="en-US" sz="28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algn="l">
              <a:lnSpc>
                <a:spcPts val="2100"/>
              </a:lnSpc>
            </a:pPr>
            <a:r>
              <a:rPr lang="en-US" sz="28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“your Shield Against Recruitment Scams”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411200" y="1629584"/>
            <a:ext cx="3127473" cy="2068041"/>
          </a:xfrm>
          <a:custGeom>
            <a:avLst/>
            <a:gdLst/>
            <a:ahLst/>
            <a:cxnLst/>
            <a:rect l="l" t="t" r="r" b="b"/>
            <a:pathLst>
              <a:path w="3127473" h="2068041">
                <a:moveTo>
                  <a:pt x="0" y="0"/>
                </a:moveTo>
                <a:lnTo>
                  <a:pt x="3127472" y="0"/>
                </a:lnTo>
                <a:lnTo>
                  <a:pt x="3127472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6DA990-1F49-67BE-72A1-9E6CF8AF42F2}"/>
              </a:ext>
            </a:extLst>
          </p:cNvPr>
          <p:cNvSpPr txBox="1"/>
          <p:nvPr/>
        </p:nvSpPr>
        <p:spPr>
          <a:xfrm>
            <a:off x="1066800" y="2094131"/>
            <a:ext cx="16992600" cy="5331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Real‑Time Trust Score ✅  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Built an engine that scores job posts/messages (0–100) and shows clear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verdicts: 🟢 Low, 🟡 Medium, 🔴 High risk.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PROGRESS MADE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Explainable Red‑Flags ✅  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Highlights why it’s risky — fees, urgent payments, suspicious phrases, free email domains, new domains.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Scam Registry Prototype ✅  SHA‑256 hashed scam reports with tamper‑evident records, foundation for blockchain anchoring.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Browser Extension MVP ✅  Prototype extension that auto‑</a:t>
            </a:r>
            <a:r>
              <a:rPr lang="en-IN" sz="2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analyzes</a:t>
            </a:r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job posts via </a:t>
            </a:r>
            <a:r>
              <a:rPr lang="en-IN" sz="2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RecruitShield</a:t>
            </a:r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API, reducing manual effort.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Telegram Bot Integration ✅  Users forward suspicious messages → instant Trust Score, verdict, red flags, and recommendations.</a:t>
            </a:r>
          </a:p>
          <a:p>
            <a:r>
              <a:rPr lang="en-IN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Identity Verification ✅  Checks recruiter/company via domain match, free‑email detection, WHOIS domain age, and website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73400" y="405025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8212090"/>
            <a:ext cx="18288000" cy="4149820"/>
            <a:chOff x="0" y="0"/>
            <a:chExt cx="3078246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78246" cy="698500"/>
            </a:xfrm>
            <a:custGeom>
              <a:avLst/>
              <a:gdLst/>
              <a:ahLst/>
              <a:cxnLst/>
              <a:rect l="l" t="t" r="r" b="b"/>
              <a:pathLst>
                <a:path w="3078246" h="698500">
                  <a:moveTo>
                    <a:pt x="3078246" y="349250"/>
                  </a:moveTo>
                  <a:lnTo>
                    <a:pt x="2875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5046" y="0"/>
                  </a:lnTo>
                  <a:lnTo>
                    <a:pt x="3078246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4300" y="-47625"/>
              <a:ext cx="2849646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050" y="181755"/>
            <a:ext cx="13327626" cy="1378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90"/>
              </a:lnSpc>
            </a:pPr>
            <a:r>
              <a:rPr lang="en-US" sz="10590" b="1" spc="-815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Technical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12542" y="346583"/>
            <a:ext cx="2248834" cy="687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50" dirty="0">
              <a:solidFill>
                <a:srgbClr val="FFFFFF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BDE77CB-61E7-50CD-C62E-30E2A7C1E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09700"/>
            <a:ext cx="177546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4822" y="534893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37680" y="7410136"/>
            <a:ext cx="6872895" cy="687289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3461750" y="2906059"/>
            <a:ext cx="6923499" cy="5780983"/>
            <a:chOff x="0" y="0"/>
            <a:chExt cx="836547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6547" cy="698500"/>
            </a:xfrm>
            <a:custGeom>
              <a:avLst/>
              <a:gdLst/>
              <a:ahLst/>
              <a:cxnLst/>
              <a:rect l="l" t="t" r="r" b="b"/>
              <a:pathLst>
                <a:path w="836547" h="698500">
                  <a:moveTo>
                    <a:pt x="836547" y="349250"/>
                  </a:moveTo>
                  <a:lnTo>
                    <a:pt x="63334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3347" y="0"/>
                  </a:lnTo>
                  <a:lnTo>
                    <a:pt x="836547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0" y="-47625"/>
              <a:ext cx="607947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H="1">
            <a:off x="16487775" y="1066800"/>
            <a:ext cx="771525" cy="0"/>
          </a:xfrm>
          <a:prstGeom prst="line">
            <a:avLst/>
          </a:prstGeom>
          <a:ln w="76200" cap="flat">
            <a:solidFill>
              <a:srgbClr val="FF01D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9658350" y="8181661"/>
            <a:ext cx="7600950" cy="1076639"/>
            <a:chOff x="0" y="0"/>
            <a:chExt cx="2001896" cy="2835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01896" cy="283559"/>
            </a:xfrm>
            <a:custGeom>
              <a:avLst/>
              <a:gdLst/>
              <a:ahLst/>
              <a:cxnLst/>
              <a:rect l="l" t="t" r="r" b="b"/>
              <a:pathLst>
                <a:path w="2001896" h="283559">
                  <a:moveTo>
                    <a:pt x="0" y="0"/>
                  </a:moveTo>
                  <a:lnTo>
                    <a:pt x="2001896" y="0"/>
                  </a:lnTo>
                  <a:lnTo>
                    <a:pt x="2001896" y="283559"/>
                  </a:lnTo>
                  <a:lnTo>
                    <a:pt x="0" y="283559"/>
                  </a:lnTo>
                  <a:close/>
                </a:path>
              </a:pathLst>
            </a:custGeom>
            <a:gradFill rotWithShape="1">
              <a:gsLst>
                <a:gs pos="0">
                  <a:srgbClr val="1000D8">
                    <a:alpha val="100000"/>
                  </a:srgbClr>
                </a:gs>
                <a:gs pos="100000">
                  <a:srgbClr val="02002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001896" cy="331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87775" y="2249075"/>
            <a:ext cx="3600450" cy="3094137"/>
            <a:chOff x="0" y="0"/>
            <a:chExt cx="812800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03928" y="496496"/>
            <a:ext cx="2930717" cy="687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Recruit shield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50" dirty="0">
              <a:solidFill>
                <a:srgbClr val="FFFFFF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35560" y="871644"/>
            <a:ext cx="9140561" cy="3280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704"/>
              </a:lnSpc>
            </a:pPr>
            <a:r>
              <a:rPr lang="en-US" sz="12704" b="1" spc="-978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Challenges Faced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86883" y="4106871"/>
            <a:ext cx="9655545" cy="3774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Trust Score Calibration – Combining multiple signals to avoid weak judgments.</a:t>
            </a: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False Positives/Negatives – Genuine recruiters flagged, smart scams slipping through.</a:t>
            </a: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Identity Verification – Handling domain mismatches, WHOIS limits, and company checks.</a:t>
            </a: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Registry Implementation – Designing secure hash‑linked records without overclaiming blockchain.</a:t>
            </a:r>
          </a:p>
          <a:p>
            <a:pPr marL="161926" lvl="1"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 marL="504826" lvl="1" indent="-342900">
              <a:lnSpc>
                <a:spcPts val="21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Cross‑Platform Integration – Syncing detection engine with browser extension &amp; Telegram bot.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48742" y="8312322"/>
            <a:ext cx="6872895" cy="826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“Turning Complex Challenges into</a:t>
            </a:r>
          </a:p>
          <a:p>
            <a:pPr>
              <a:lnSpc>
                <a:spcPts val="2100"/>
              </a:lnSpc>
            </a:pPr>
            <a:endParaRPr lang="en-US" sz="2400" b="1" dirty="0">
              <a:solidFill>
                <a:srgbClr val="FFFFFF"/>
              </a:solidFill>
              <a:latin typeface="Poppins" panose="00000500000000000000" pitchFamily="2" charset="0"/>
              <a:ea typeface="Open Sauce Medium"/>
              <a:cs typeface="Poppins" panose="00000500000000000000" pitchFamily="2" charset="0"/>
              <a:sym typeface="Open Sauce Medium"/>
            </a:endParaRPr>
          </a:p>
          <a:p>
            <a:pPr>
              <a:lnSpc>
                <a:spcPts val="2100"/>
              </a:lnSpc>
            </a:pPr>
            <a:r>
              <a: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Open Sauce Medium"/>
                <a:cs typeface="Poppins" panose="00000500000000000000" pitchFamily="2" charset="0"/>
                <a:sym typeface="Open Sauce Medium"/>
              </a:rPr>
              <a:t> Trusted Solutions.”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E96EC3-728A-E0B9-6BEC-2F8413B7E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55" y="1425489"/>
            <a:ext cx="8475005" cy="8462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88703" y="8219761"/>
            <a:ext cx="6872895" cy="68728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1000D8">
                      <a:alpha val="100000"/>
                    </a:srgbClr>
                  </a:gs>
                  <a:gs pos="50000">
                    <a:srgbClr val="020020">
                      <a:alpha val="100000"/>
                    </a:srgbClr>
                  </a:gs>
                  <a:gs pos="100000">
                    <a:srgbClr val="02002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77131" y="1052924"/>
            <a:ext cx="261252" cy="253177"/>
          </a:xfrm>
          <a:custGeom>
            <a:avLst/>
            <a:gdLst/>
            <a:ahLst/>
            <a:cxnLst/>
            <a:rect l="l" t="t" r="r" b="b"/>
            <a:pathLst>
              <a:path w="261252" h="253177">
                <a:moveTo>
                  <a:pt x="0" y="0"/>
                </a:moveTo>
                <a:lnTo>
                  <a:pt x="261252" y="0"/>
                </a:lnTo>
                <a:lnTo>
                  <a:pt x="261252" y="253177"/>
                </a:lnTo>
                <a:lnTo>
                  <a:pt x="0" y="253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-2849151"/>
            <a:ext cx="8115300" cy="5698302"/>
            <a:chOff x="0" y="0"/>
            <a:chExt cx="994777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4777" cy="698500"/>
            </a:xfrm>
            <a:custGeom>
              <a:avLst/>
              <a:gdLst/>
              <a:ahLst/>
              <a:cxnLst/>
              <a:rect l="l" t="t" r="r" b="b"/>
              <a:pathLst>
                <a:path w="994777" h="698500">
                  <a:moveTo>
                    <a:pt x="994777" y="349250"/>
                  </a:moveTo>
                  <a:lnTo>
                    <a:pt x="7915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91577" y="0"/>
                  </a:lnTo>
                  <a:lnTo>
                    <a:pt x="994777" y="34925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00" y="-47625"/>
              <a:ext cx="766177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74340" y="424282"/>
            <a:ext cx="1071864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20"/>
              </a:lnSpc>
            </a:pPr>
            <a:r>
              <a:rPr lang="en-US" sz="11420" b="1" spc="-879" dirty="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Future Roadmap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33274" y="981075"/>
            <a:ext cx="2237704" cy="68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spc="-50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.Recruit shield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50" dirty="0">
              <a:solidFill>
                <a:srgbClr val="FFFFFF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360633-FCD6-35DB-EAFB-F6AB828EA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32611"/>
            <a:ext cx="17373599" cy="82114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560</Words>
  <Application>Microsoft Office PowerPoint</Application>
  <PresentationFormat>Custom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Telegraf Medium</vt:lpstr>
      <vt:lpstr>Poppins</vt:lpstr>
      <vt:lpstr>Open Sauce Medium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ELIN SHIRLEY</dc:creator>
  <cp:lastModifiedBy>ELIN SHIRLEY</cp:lastModifiedBy>
  <cp:revision>2</cp:revision>
  <dcterms:created xsi:type="dcterms:W3CDTF">2006-08-16T00:00:00Z</dcterms:created>
  <dcterms:modified xsi:type="dcterms:W3CDTF">2026-08-27T17:25:32Z</dcterms:modified>
  <dc:identifier>DAHTfetIUF0</dc:identifier>
</cp:coreProperties>
</file>